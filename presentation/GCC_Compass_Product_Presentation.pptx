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6583680" cy="51206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4114800" cy="347472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1827"/>
                </a:solidFill>
              </a:defRPr>
            </a:pPr>
            <a:r>
              <a:t>PRODUCT MANAGEMENT INTERNSHIP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11827"/>
                </a:solidFill>
              </a:defRPr>
            </a:pPr>
            <a:r>
              <a:t>GCC COMPASS</a:t>
            </a:r>
          </a:p>
          <a:p>
            <a:pPr>
              <a:defRPr sz="1600" b="1">
                <a:solidFill>
                  <a:srgbClr val="111827"/>
                </a:solidFill>
              </a:defRPr>
            </a:pPr>
            <a:r>
              <a:t>Location Intelligence &amp; Hiring Plan Stress Tester</a:t>
            </a:r>
          </a:p>
          <a:p>
            <a:br/>
            <a:pPr>
              <a:defRPr sz="1050">
                <a:solidFill>
                  <a:srgbClr val="4B5563"/>
                </a:solidFill>
              </a:defRPr>
            </a:pPr>
            <a:r>
              <a:t>Evidence-backed decision engine replacing intuitive consultancy guesswork with deterministic backward-induction funnel modeling and verified multi-city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069080"/>
            <a:ext cx="164592" cy="164592"/>
          </a:xfrm>
          <a:prstGeom prst="rect">
            <a:avLst/>
          </a:prstGeom>
          <a:solidFill>
            <a:srgbClr val="FFE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77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11827"/>
                </a:solidFill>
              </a:defRPr>
            </a:pPr>
            <a:r>
              <a:t>Deterministic Funnel: </a:t>
            </a:r>
            <a:r>
              <a:rPr b="0">
                <a:solidFill>
                  <a:srgbClr val="4B5563"/>
                </a:solidFill>
              </a:rPr>
              <a:t>Rigorous math modeling Indian notice periods &amp; recruiter capacity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663440"/>
            <a:ext cx="164592" cy="164592"/>
          </a:xfrm>
          <a:prstGeom prst="rect">
            <a:avLst/>
          </a:prstGeom>
          <a:solidFill>
            <a:srgbClr val="FFE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11827"/>
                </a:solidFill>
              </a:defRPr>
            </a:pPr>
            <a:r>
              <a:t>6 Audited GCC Hubs: </a:t>
            </a:r>
            <a:r>
              <a:rPr b="0">
                <a:solidFill>
                  <a:srgbClr val="4B5563"/>
                </a:solidFill>
              </a:rPr>
              <a:t>Tier-1 vs Tier-2 comparison with genuine company taxonomy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257800"/>
            <a:ext cx="164592" cy="164592"/>
          </a:xfrm>
          <a:prstGeom prst="rect">
            <a:avLst/>
          </a:prstGeom>
          <a:solidFill>
            <a:srgbClr val="FFE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166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11827"/>
                </a:solidFill>
              </a:defRPr>
            </a:pPr>
            <a:r>
              <a:t>Audit-Grade Evidence: </a:t>
            </a:r>
            <a:r>
              <a:rPr b="0">
                <a:solidFill>
                  <a:srgbClr val="4B5563"/>
                </a:solidFill>
              </a:rPr>
              <a:t>Transparent sources, H1 2024 benchmarks, zero hallucinations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005840"/>
            <a:ext cx="3962095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3779215" cy="29260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498079" y="4114800"/>
            <a:ext cx="3962095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4114800"/>
            <a:ext cx="3962095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11827"/>
                </a:solidFill>
              </a:defRPr>
            </a:pPr>
            <a:r>
              <a:t>LIVE PROTOTYPE VERIFIED 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48056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111827"/>
                </a:solidFill>
              </a:defRPr>
            </a:pPr>
            <a:r>
              <a:t>URL: https://ftsurya.github.io/GCC-Compass/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• Architecture: Client-Side React 19 SPA on GitHub Pages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• Validation: 111/111 Automated Tests · 0 Lint Errors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• Ecosystem: 6 Hubs · 28 Verified Entities (17 Captives)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• Invitation: Reviewers invited to explore live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The Multi-Million Dollar Blind Spots in India GCC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Why over 40% of offshore technology centre expansion plans fail to meet scheduled launch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34747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965960"/>
            <a:ext cx="777240" cy="36576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The 90-Day Notice Period Paradox</a:t>
            </a:r>
          </a:p>
          <a:p>
            <a:br/>
            <a:pPr>
              <a:defRPr sz="900">
                <a:solidFill>
                  <a:srgbClr val="4B5563"/>
                </a:solidFill>
              </a:defRPr>
            </a:pPr>
            <a:r>
              <a:t>In India's tech ecosystem, candidate notice periods typically span 60 to 90 days. A setup targeting 300 joiners by Month 6 must lock final accepted offers by Month 3 or 4.</a:t>
            </a:r>
            <a:br/>
            <a:r>
              <a:t>Traditional linear plans treat 6 months as hiring runway, resulting in catastrophic hiring cliff shortages at scheduled launch.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783080"/>
            <a:ext cx="34747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9432" y="1965960"/>
            <a:ext cx="777240" cy="365760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4231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Unrealistic Funnel &amp; Recruiter Capacity</a:t>
            </a:r>
          </a:p>
          <a:p>
            <a:br/>
            <a:pPr>
              <a:defRPr sz="900">
                <a:solidFill>
                  <a:srgbClr val="4B5563"/>
                </a:solidFill>
              </a:defRPr>
            </a:pPr>
            <a:r>
              <a:t>Scaling a 300-headcount technical GCC requires screening ~32,600 resumes and conducting 2,860 technical interviews.</a:t>
            </a:r>
            <a:br/>
            <a:r>
              <a:t>Without backward-induction math, enterprises allocate 4-5 internal recruiters (capable of ~175 interviews) against a true 715/month demand, causing massive operational collapse.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1783080"/>
            <a:ext cx="34747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38744" y="1965960"/>
            <a:ext cx="777240" cy="365760"/>
          </a:xfrm>
          <a:prstGeom prst="rect">
            <a:avLst/>
          </a:prstGeom>
          <a:solidFill>
            <a:srgbClr val="E2D9F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827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42316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Conflated Data &amp; Facility Hallucinations</a:t>
            </a:r>
          </a:p>
          <a:p>
            <a:br/>
            <a:pPr>
              <a:defRPr sz="900">
                <a:solidFill>
                  <a:srgbClr val="4B5563"/>
                </a:solidFill>
              </a:defRPr>
            </a:pPr>
            <a:r>
              <a:t>Generic market decks conflate IT services vendor campuses (e.g., Infosys, TCS) with genuine captive GCCs.</a:t>
            </a:r>
            <a:br/>
            <a:r>
              <a:t>Physical desk seating capacities are misleadingly cited as live headcounts, and stale commercial real estate benchmarks are used without transparent observation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USER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Target Users &amp; Enterprise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Bridging the strategic disconnect between global steering committees and local talent acquisition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Global Head of GCC / VP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t>• Mandate: Evaluate Tier-1 (Bengaluru/Hyderabad/Pune) vs Tier-2 (Vizag/Coimbatore/Bhubaneswar) hub viability.</a:t>
            </a:r>
            <a:br/>
          </a:p>
          <a:p>
            <a:pPr>
              <a:defRPr sz="1050">
                <a:solidFill>
                  <a:srgbClr val="111827"/>
                </a:solidFill>
              </a:defRPr>
            </a:pPr>
            <a:r>
              <a:t>• Primary Need: Reliable grade-A commercial lease benchmarks, state IT policy incentives, and competitive talent saturation data.</a:t>
            </a:r>
            <a:br/>
          </a:p>
          <a:p>
            <a:pPr>
              <a:defRPr sz="1050">
                <a:solidFill>
                  <a:srgbClr val="111827"/>
                </a:solidFill>
              </a:defRPr>
            </a:pPr>
            <a:r>
              <a:t>• Pain Point: Receiving unverified consultancy slides that fail to differentiate IT service vendors from captive tech peers.</a:t>
            </a:r>
            <a:br/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4747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828800"/>
            <a:ext cx="3474720" cy="640080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Head of Talent Acquisition / VP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6060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t>• Mandate: Structure the recruitment funnel and guarantee delivery of 200-500 engineers on strict target timelines.</a:t>
            </a:r>
            <a:br/>
          </a:p>
          <a:p>
            <a:pPr>
              <a:defRPr sz="1050">
                <a:solidFill>
                  <a:srgbClr val="111827"/>
                </a:solidFill>
              </a:defRPr>
            </a:pPr>
            <a:r>
              <a:t>• Primary Need: Deterministic backwards induction showing exact candidate sourcing pool, screening stages, and offer cutoffs.</a:t>
            </a:r>
            <a:br/>
          </a:p>
          <a:p>
            <a:pPr>
              <a:defRPr sz="1050">
                <a:solidFill>
                  <a:srgbClr val="111827"/>
                </a:solidFill>
              </a:defRPr>
            </a:pPr>
            <a:r>
              <a:t>• Pain Point: Blamed for hiring delays caused by unmodeled 90-day candidate notice periods and recruiter team under-allocation.</a:t>
            </a:r>
            <a:br/>
          </a:p>
        </p:txBody>
      </p:sp>
      <p:sp>
        <p:nvSpPr>
          <p:cNvPr id="12" name="Rectangle 11"/>
          <p:cNvSpPr/>
          <p:nvPr/>
        </p:nvSpPr>
        <p:spPr>
          <a:xfrm>
            <a:off x="8010144" y="1828800"/>
            <a:ext cx="34747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828800"/>
            <a:ext cx="3474720" cy="640080"/>
          </a:xfrm>
          <a:prstGeom prst="rect">
            <a:avLst/>
          </a:prstGeom>
          <a:solidFill>
            <a:srgbClr val="E2D9F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Global CFO &amp; Steering Committee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6060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11827"/>
                </a:solidFill>
              </a:defRPr>
            </a:pPr>
            <a:r>
              <a:t>• Mandate: Approve multi-million dollar capital expenditure, lease commitments, and vendor RPO contracts.</a:t>
            </a:r>
            <a:br/>
          </a:p>
          <a:p>
            <a:pPr>
              <a:defRPr sz="1050">
                <a:solidFill>
                  <a:srgbClr val="111827"/>
                </a:solidFill>
              </a:defRPr>
            </a:pPr>
            <a:r>
              <a:t>• Primary Need: Stress-tested sensitivity models calculating impact of candidate reneging surges and timeline infeasibility.</a:t>
            </a:r>
            <a:br/>
          </a:p>
          <a:p>
            <a:pPr>
              <a:defRPr sz="1050">
                <a:solidFill>
                  <a:srgbClr val="111827"/>
                </a:solidFill>
              </a:defRPr>
            </a:pPr>
            <a:r>
              <a:t>• Pain Point: Committing capex based on optimistic linear spreadsheets that blow up within the first two quarters.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MARKET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Current Challenges vs Fragile Workarounds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How enterprise leaders navigate GCC setup decisions today, and where current tools break 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578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solidFill>
            <a:srgbClr val="F3F4F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EXISTING FRAGILE WORKAROUND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11827"/>
                </a:solidFill>
              </a:defRPr>
            </a:pPr>
            <a:r>
              <a:t>1. Static Consulting Decks: </a:t>
            </a:r>
            <a:r>
              <a:rPr b="0">
                <a:solidFill>
                  <a:srgbClr val="4B5563"/>
                </a:solidFill>
              </a:rPr>
              <a:t>60-page PDF reports costing $50k+ from global firms that become obsolete the moment parameters change. Lack interactive sensitivity toggles.</a:t>
            </a:r>
          </a:p>
          <a:p/>
          <a:p>
            <a:pPr>
              <a:defRPr b="1" sz="1050">
                <a:solidFill>
                  <a:srgbClr val="111827"/>
                </a:solidFill>
              </a:defRPr>
            </a:pPr>
            <a:r>
              <a:t>2. Ad-hoc Excel Spreadsheets: </a:t>
            </a:r>
            <a:r>
              <a:rPr b="0">
                <a:solidFill>
                  <a:srgbClr val="4B5563"/>
                </a:solidFill>
              </a:rPr>
              <a:t>Siloed spreadsheets with broken formulas that assume forward multiplication rather than backward induction, ignoring compound drop-offs.</a:t>
            </a:r>
          </a:p>
          <a:p/>
          <a:p>
            <a:pPr>
              <a:defRPr b="1" sz="1050">
                <a:solidFill>
                  <a:srgbClr val="111827"/>
                </a:solidFill>
              </a:defRPr>
            </a:pPr>
            <a:r>
              <a:t>3. Vendor Agency Promises: </a:t>
            </a:r>
            <a:r>
              <a:rPr b="0">
                <a:solidFill>
                  <a:srgbClr val="4B5563"/>
                </a:solidFill>
              </a:rPr>
              <a:t>Staffing agencies pitching aggressive 4-month turnarounds without disclosing that 60-90 day notice periods consume 75% of the timeline.</a:t>
            </a:r>
          </a:p>
          <a:p/>
          <a:p>
            <a:pPr>
              <a:defRPr b="1" sz="1050">
                <a:solidFill>
                  <a:srgbClr val="111827"/>
                </a:solidFill>
              </a:defRPr>
            </a:pPr>
            <a:r>
              <a:t>4. Generic LLM Prompts: </a:t>
            </a:r>
            <a:r>
              <a:rPr b="0">
                <a:solidFill>
                  <a:srgbClr val="4B5563"/>
                </a:solidFill>
              </a:rPr>
              <a:t>Prompting commercial AI models that hallucinate fictional GCC campus sizes and conflate third-party vendors with true captives.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2578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257800" cy="548640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GCC COMPASS SYSTEMIC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11827"/>
                </a:solidFill>
              </a:defRPr>
            </a:pPr>
            <a:r>
              <a:t>1. Dynamic Web Application: </a:t>
            </a:r>
            <a:r>
              <a:rPr b="0">
                <a:solidFill>
                  <a:srgbClr val="4B5563"/>
                </a:solidFill>
              </a:rPr>
              <a:t>Interactive, reactive application with instantaneous mathematical updates across all 5 stages of the hiring funnel.</a:t>
            </a:r>
          </a:p>
          <a:p/>
          <a:p>
            <a:pPr>
              <a:defRPr b="1" sz="1050">
                <a:solidFill>
                  <a:srgbClr val="111827"/>
                </a:solidFill>
              </a:defRPr>
            </a:pPr>
            <a:r>
              <a:t>2. Mathematical Backward Induction: </a:t>
            </a:r>
            <a:r>
              <a:rPr b="0">
                <a:solidFill>
                  <a:srgbClr val="4B5563"/>
                </a:solidFill>
              </a:rPr>
              <a:t>Rigorous math: Target Hires / Join Rate / Acceptance Rate / Interview Pass Rate / Screen Pass Rate = Exact Pool Required.</a:t>
            </a:r>
          </a:p>
          <a:p/>
          <a:p>
            <a:pPr>
              <a:defRPr b="1" sz="1050">
                <a:solidFill>
                  <a:srgbClr val="111827"/>
                </a:solidFill>
              </a:defRPr>
            </a:pPr>
            <a:r>
              <a:t>3. Notice Period Lag Integration: </a:t>
            </a:r>
            <a:r>
              <a:rPr b="0">
                <a:solidFill>
                  <a:srgbClr val="4B5563"/>
                </a:solidFill>
              </a:rPr>
              <a:t>Active hiring window is strictly truncated by candidate notice periods (e.g., 6 mo deadline - 2 mo notice = 4 mo cutoff).</a:t>
            </a:r>
          </a:p>
          <a:p/>
          <a:p>
            <a:pPr>
              <a:defRPr b="1" sz="1050">
                <a:solidFill>
                  <a:srgbClr val="111827"/>
                </a:solidFill>
              </a:defRPr>
            </a:pPr>
            <a:r>
              <a:t>4. Audit-Grade Evidence Base: </a:t>
            </a:r>
            <a:r>
              <a:rPr b="0">
                <a:solidFill>
                  <a:srgbClr val="4B5563"/>
                </a:solidFill>
              </a:rPr>
              <a:t>Every claim is indexed with source provenance, collection date (H1 2024 benchmarks), and explicit confidence caveats.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PRODUCT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Prioritized Opportunities &amp; Product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Value vs Feasibility prioritization framework guiding the GCC Compass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11680"/>
            <a:ext cx="2011680" cy="292608"/>
          </a:xfrm>
          <a:prstGeom prst="rect">
            <a:avLst/>
          </a:prstGeom>
          <a:solidFill>
            <a:srgbClr val="FFE5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11827"/>
                </a:solidFill>
              </a:defRPr>
            </a:pPr>
            <a:r>
              <a:t>CRITICAL FOR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P0: Backward-Induction Funnel Engine</a:t>
            </a:r>
          </a:p>
          <a:p>
            <a:br/>
            <a:pPr>
              <a:defRPr sz="950">
                <a:solidFill>
                  <a:srgbClr val="4B5563"/>
                </a:solidFill>
              </a:defRPr>
            </a:pPr>
            <a:r>
              <a:t>Why Prioritized: Hiring failure in India GCCs stems from underestimating top-of-funnel volume. A 300-hire target requires exactly 32,688 sourced resumes at benchmark conversion rates. Providing deterministic math eliminates wishful thinking.</a:t>
            </a:r>
            <a:br/>
            <a:br/>
            <a:r>
              <a:t>Decision: Hardcoded deterministic mathematical model (zero hallucination risk).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011680" cy="292608"/>
          </a:xfrm>
          <a:prstGeom prst="rect">
            <a:avLst/>
          </a:prstGeom>
          <a:solidFill>
            <a:srgbClr val="00F0A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11827"/>
                </a:solidFill>
              </a:defRPr>
            </a:pPr>
            <a:r>
              <a:t>FOUNDATIONAL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P0: Epistemic Data &amp; Entity Taxonomy</a:t>
            </a:r>
          </a:p>
          <a:p>
            <a:br/>
            <a:pPr>
              <a:defRPr sz="950">
                <a:solidFill>
                  <a:srgbClr val="4B5563"/>
                </a:solidFill>
              </a:defRPr>
            </a:pPr>
            <a:r>
              <a:t>Why Prioritized: Decision-makers must distinguish true captive GCCs (e.g., Barclays, Nvidia, State Street) from IT services vendors (TCS, Infosys) and software products. Conflating them skews compensation and talent availability assumptions.</a:t>
            </a:r>
            <a:br/>
            <a:br/>
            <a:r>
              <a:t>Decision: 5-way classification taxonomy + strict isolation of seating capacity from headcount.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4251960"/>
            <a:ext cx="2011680" cy="292608"/>
          </a:xfrm>
          <a:prstGeom prst="rect">
            <a:avLst/>
          </a:prstGeom>
          <a:solidFill>
            <a:srgbClr val="E2D9F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11827"/>
                </a:solidFill>
              </a:defRPr>
            </a:pPr>
            <a:r>
              <a:t>EXECUTIVE BUY-IN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7200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P1: Notice Period Stress &amp; Monte Carlo Testing</a:t>
            </a:r>
          </a:p>
          <a:p>
            <a:br/>
            <a:pPr>
              <a:defRPr sz="950">
                <a:solidFill>
                  <a:srgbClr val="4B5563"/>
                </a:solidFill>
              </a:defRPr>
            </a:pPr>
            <a:r>
              <a:t>Why Prioritized: Executives need to understand failure modes before committing funds. Modeling reneging rate surges (up to 40%) and 90-day notice periods reveals recruiter capacity deficits in real time.</a:t>
            </a:r>
            <a:br/>
            <a:br/>
            <a:r>
              <a:t>Decision: Real-time interactive sensitivity sliders with automated Infeasibility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06908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251960"/>
            <a:ext cx="2011680" cy="292608"/>
          </a:xfrm>
          <a:prstGeom prst="rect">
            <a:avLst/>
          </a:prstGeom>
          <a:solidFill>
            <a:srgbClr val="FF6B6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11827"/>
                </a:solidFill>
              </a:defRPr>
            </a:pPr>
            <a:r>
              <a:t>DECISION VELOCITY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P1: Multi-Format Audit Decision Briefs</a:t>
            </a:r>
          </a:p>
          <a:p>
            <a:br/>
            <a:pPr>
              <a:defRPr sz="950">
                <a:solidFill>
                  <a:srgbClr val="4B5563"/>
                </a:solidFill>
              </a:defRPr>
            </a:pPr>
            <a:r>
              <a:t>Why Prioritized: Insights trapped in a web app don't reach boardrooms. Leaders need structured, exportable artifacts for steering committees.</a:t>
            </a:r>
            <a:br/>
            <a:br/>
            <a:r>
              <a:t>Decision: Instant export in Markdown, JSON, PDF, and Clipboard formats.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Proposed Solution &amp; Core User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A seamless 4-stage operational workflow transforming ambiguity into board-ready hiring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26060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2606040" cy="384048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11827"/>
                </a:solidFill>
              </a:defRPr>
            </a:pPr>
            <a:r>
              <a:t>WORKFLOW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t>1. Location Intelligence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Explore 6 hubs with Grade-A lease costs (H1 2024), talent depth, and verified captive directories.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37560"/>
            <a:ext cx="233172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364992"/>
            <a:ext cx="2276856" cy="27797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56432" y="1783080"/>
            <a:ext cx="26060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783080"/>
            <a:ext cx="2606040" cy="384048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11827"/>
                </a:solidFill>
              </a:defRPr>
            </a:pPr>
            <a:r>
              <a:t>WORKFLOW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12848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t>2. Deterministic Plan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Interactive funnel calculating required sourcing pool, screens, interviews, and recruiter capacity.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3337560"/>
            <a:ext cx="233172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n_bui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3364992"/>
            <a:ext cx="2276856" cy="277977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1344" y="1783080"/>
            <a:ext cx="26060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783080"/>
            <a:ext cx="2606040" cy="384048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11827"/>
                </a:solidFill>
              </a:defRPr>
            </a:pPr>
            <a:r>
              <a:t>WORKFLOW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212848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t>3. Stress Test Scenarios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Simulate candidate reneging spikes, notice period extensions, and recruiter capacity deficits.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3337560"/>
            <a:ext cx="233172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ress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364992"/>
            <a:ext cx="2276856" cy="277977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906256" y="1783080"/>
            <a:ext cx="26060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1783080"/>
            <a:ext cx="2606040" cy="384048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11827"/>
                </a:solidFill>
              </a:defRPr>
            </a:pPr>
            <a:r>
              <a:t>WORKFLOW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212848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1827"/>
                </a:solidFill>
              </a:defRPr>
            </a:pPr>
            <a:r>
              <a:t>4. Executive Brief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One-click export of audit-grade decision briefs in Markdown, PDF, or JSON format.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3416" y="3337560"/>
            <a:ext cx="2331720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vidence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3364992"/>
            <a:ext cx="2276856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TRADE-OFF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Product Decisions &amp; Strategic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Deliberate design decisions prioritizing epistemic integrity, reproducibility, and enterprise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827"/>
                </a:solidFill>
              </a:defRPr>
            </a:pPr>
            <a:r>
              <a:t>1. Deterministic Funnel Math vs Generative AI 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B5563"/>
                </a:solidFill>
              </a:defRPr>
            </a:pPr>
            <a:r>
              <a:t>Decision: Enforced pure mathematical backward-induction in calculator.ts rather than using LLMs for funnel estimation.</a:t>
            </a:r>
            <a:br/>
            <a:br/>
            <a:r>
              <a:t>Trade-Off: Less conversational interaction; but achieves 100% deterministic reproducibility and passes strict compliance audits.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827"/>
                </a:solidFill>
              </a:defRPr>
            </a:pPr>
            <a:r>
              <a:t>2. Transparent 'Data Unavailable' vs Synthetic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B5563"/>
                </a:solidFill>
              </a:defRPr>
            </a:pPr>
            <a:r>
              <a:t>Decision: Preserved 'Data unavailable' or 'requires_verification' for undisclosed private headcount (e.g. Nvidia Pune, Alliant Vizag).</a:t>
            </a:r>
            <a:br/>
            <a:br/>
            <a:r>
              <a:t>Trade-Off: Incomplete charts on select private metrics; but guarantees zero fabricated figures, preserving institutional credibility.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827"/>
                </a:solidFill>
              </a:defRPr>
            </a:pPr>
            <a:r>
              <a:t>3. Strict Entity Classification vs Generic Tech 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B5563"/>
                </a:solidFill>
              </a:defRPr>
            </a:pPr>
            <a:r>
              <a:t>Decision: Separated captive GCCs (17) from IT services (8) and product firms (2); isolated seating capacity from employee headcount.</a:t>
            </a:r>
            <a:br/>
            <a:br/>
            <a:r>
              <a:t>Trade-Off: More complex data schemas; but prevents dangerous talent-pool inflation (e.g. counting 1,000 Infosys desk seats as GCC hires).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069080"/>
            <a:ext cx="52578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827"/>
                </a:solidFill>
              </a:defRPr>
            </a:pPr>
            <a:r>
              <a:t>4. Assessment-First Gateway vs Unconfigured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B5563"/>
                </a:solidFill>
              </a:defRPr>
            </a:pPr>
            <a:r>
              <a:t>Decision: Required users to select a scenario or configure parameters before displaying output recommendations.</a:t>
            </a:r>
            <a:br/>
            <a:br/>
            <a:r>
              <a:t>Trade-Off: Requires an initial user click; but completely prevents unanchored, out-of-context decision 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COMPETITIVE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Product Positioning &amp; Alternative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How GCC Compass establishes a unique position against legacy consultancies, ATS systems, and general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728655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103628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2011680"/>
                <a:gridCol w="2011680"/>
                <a:gridCol w="2011680"/>
                <a:gridCol w="2011680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111827"/>
                          </a:solidFill>
                        </a:defRPr>
                      </a:pPr>
                      <a:r>
                        <a:t>Evaluation Criteria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111827"/>
                          </a:solidFill>
                        </a:defRPr>
                      </a:pPr>
                      <a:r>
                        <a:t>GCC Compass (Our Product)</a:t>
                      </a:r>
                    </a:p>
                  </a:txBody>
                  <a:tcPr>
                    <a:solidFill>
                      <a:srgbClr val="FFE5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111827"/>
                          </a:solidFill>
                        </a:defRPr>
                      </a:pPr>
                      <a:r>
                        <a:t>Management Consulting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111827"/>
                          </a:solidFill>
                        </a:defRPr>
                      </a:pPr>
                      <a:r>
                        <a:t>Enterprise ATS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111827"/>
                          </a:solidFill>
                        </a:defRPr>
                      </a:pPr>
                      <a:r>
                        <a:t>General BI (PowerBI)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11827"/>
                          </a:solidFill>
                        </a:defRPr>
                      </a:pPr>
                      <a:r>
                        <a:t>Backward-Induction Funnel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Yes (Deterministic math)</a:t>
                      </a:r>
                    </a:p>
                  </a:txBody>
                  <a:tcPr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(Static forward targets)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(Historical data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(Manual DAX modeling)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11827"/>
                          </a:solidFill>
                        </a:defRPr>
                      </a:pPr>
                      <a:r>
                        <a:t>Notice-Period Lag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Yes (60-90d cutoff alerts)</a:t>
                      </a:r>
                    </a:p>
                  </a:txBody>
                  <a:tcPr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Qualitative caveat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(Tracks active stage)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(Custom pipeline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11827"/>
                          </a:solidFill>
                        </a:defRPr>
                      </a:pPr>
                      <a:r>
                        <a:t>Audited City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Yes (6 hubs, strict taxonomy)</a:t>
                      </a:r>
                    </a:p>
                  </a:txBody>
                  <a:tcPr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Yes (High-cost custom study)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(Internal data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Requires external data 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11827"/>
                          </a:solidFill>
                        </a:defRPr>
                      </a:pPr>
                      <a:r>
                        <a:t>Interactive 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Yes (Real-time sliders)</a:t>
                      </a:r>
                    </a:p>
                  </a:txBody>
                  <a:tcPr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(Static PowerPoint)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No (Retrospective reporting)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4B5563"/>
                          </a:solidFill>
                        </a:defRPr>
                      </a:pPr>
                      <a:r>
                        <a:t>Partial (Parameter slicers)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TECHNICAL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Prototype Validation &amp; Verification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Empirical evidence of system reliability, static typing, and mathematical determinism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6060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606040" cy="777240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111 / 111</a:t>
            </a:r>
          </a:p>
          <a:p>
            <a:pPr algn="ctr">
              <a:defRPr sz="850" b="1">
                <a:solidFill>
                  <a:srgbClr val="111827"/>
                </a:solidFill>
              </a:defRPr>
            </a:pPr>
            <a:r>
              <a:t>AUTOMATED TEST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• 100% pass rate in tsx calculator.test.ts &amp; regression.test.ts.</a:t>
            </a:r>
            <a:br/>
            <a:r>
              <a:t>• Validates backward-induction funnel (300 hires -&gt; 32,688 applicant pool).</a:t>
            </a:r>
            <a:br/>
            <a:r>
              <a:t>• Tests 60-90d notice period lag and offer cutoff deadlines.</a:t>
            </a:r>
            <a:br/>
            <a:r>
              <a:t>• Confirms all 5 enterprise demo scenarios calculate deterministically.</a:t>
            </a:r>
            <a:br/>
            <a:r>
              <a:t>• Validates 6-city boundary isolation and strict company classifications.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828800"/>
            <a:ext cx="26060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2606040" cy="7772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0 Errors</a:t>
            </a:r>
          </a:p>
          <a:p>
            <a:pPr algn="ctr">
              <a:defRPr sz="850" b="1">
                <a:solidFill>
                  <a:srgbClr val="111827"/>
                </a:solidFill>
              </a:defRPr>
            </a:pPr>
            <a:r>
              <a:t>TYPESCRIPT &amp; STATIC LINTER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69748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• Strict type safety enforced with zero compilation errors in tsc --noEmit.</a:t>
            </a:r>
            <a:br/>
            <a:r>
              <a:t>• GccCompany data models strictly type 5-way classification enum.</a:t>
            </a:r>
            <a:br/>
            <a:r>
              <a:t>• CityProviderIndicator strictly types limitations and source dates.</a:t>
            </a:r>
            <a:br/>
            <a:r>
              <a:t>• Eliminates potential runtime undefined exceptions across route states.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828800"/>
            <a:ext cx="26060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828800"/>
            <a:ext cx="2606040" cy="777240"/>
          </a:xfrm>
          <a:prstGeom prst="rect">
            <a:avLst/>
          </a:prstGeom>
          <a:solidFill>
            <a:srgbClr val="E2D9F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&lt; 1.0s</a:t>
            </a:r>
          </a:p>
          <a:p>
            <a:pPr algn="ctr">
              <a:defRPr sz="850" b="1">
                <a:solidFill>
                  <a:srgbClr val="111827"/>
                </a:solidFill>
              </a:defRPr>
            </a:pPr>
            <a:r>
              <a:t>PRODUCTION VITE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69748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• Production client bundle built in ~885ms with Vite 8.3 + React 19.</a:t>
            </a:r>
            <a:br/>
            <a:r>
              <a:t>• Universal relative addressing (base: './') across scripts &amp; stylesheets.</a:t>
            </a:r>
            <a:br/>
            <a:r>
              <a:t>• Automated SPA fallbacks generated (404.html, .nojekyll, _redirects).</a:t>
            </a:r>
            <a:br/>
            <a:r>
              <a:t>• Pre-configured for zero-config multi-cloud static deployments.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6256" y="1828800"/>
            <a:ext cx="26060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828800"/>
            <a:ext cx="2606040" cy="777240"/>
          </a:xfrm>
          <a:prstGeom prst="rect">
            <a:avLst/>
          </a:prstGeom>
          <a:solidFill>
            <a:srgbClr val="FF6B6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Verified</a:t>
            </a:r>
          </a:p>
          <a:p>
            <a:pPr algn="ctr">
              <a:defRPr sz="850" b="1">
                <a:solidFill>
                  <a:srgbClr val="111827"/>
                </a:solidFill>
              </a:defRPr>
            </a:pPr>
            <a:r>
              <a:t>LIVE PUBLIC BROWSER SMOKE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69748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B5563"/>
                </a:solidFill>
              </a:defRPr>
            </a:pPr>
            <a:r>
              <a:t>• Verified live at https://ftsurya.github.io/GCC-Compass/.</a:t>
            </a:r>
            <a:br/>
            <a:r>
              <a:t>• Validated Landing, Plan Builder, Map Intelligence, &amp; Decision Brief.</a:t>
            </a:r>
            <a:br/>
            <a:r>
              <a:t>• Tested multi-format export engine: Markdown (.md), PDF, JSON, &amp; copy.</a:t>
            </a:r>
            <a:br/>
            <a:r>
              <a:t>• Client-side React architecture running on GitHub Pages.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2560320" cy="32004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11827"/>
                </a:solidFill>
              </a:defRPr>
            </a:pPr>
            <a:r>
              <a:t>INTEGRITY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</a:defRPr>
            </a:pPr>
            <a:r>
              <a:t>Data Limitations, Assumptions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Epistemic transparency regarding current data boundaries and planned engineering horizons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57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57800" cy="50292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t>CURRENT EPISTEMIC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11827"/>
                </a:solidFill>
              </a:defRPr>
            </a:pPr>
            <a:r>
              <a:t>1. Dated Office Cost Benchmarks (H1 2024): </a:t>
            </a:r>
            <a:r>
              <a:rPr b="0">
                <a:solidFill>
                  <a:srgbClr val="4B5563"/>
                </a:solidFill>
              </a:rPr>
              <a:t>Commercial office lease rental rates reflect H1 2024 JLL and Colliers benchmarks. Real-time market changes in 2025/2026 require dynamic index updates.</a:t>
            </a:r>
          </a:p>
          <a:p>
            <a:pPr>
              <a:defRPr b="1" sz="950">
                <a:solidFill>
                  <a:srgbClr val="111827"/>
                </a:solidFill>
              </a:defRPr>
            </a:pPr>
            <a:r>
              <a:t>2. Undisclosed Private Headcounts: </a:t>
            </a:r>
            <a:r>
              <a:rPr b="0">
                <a:solidFill>
                  <a:srgbClr val="4B5563"/>
                </a:solidFill>
              </a:rPr>
              <a:t>Private multinational captives (e.g. Nvidia Pune, Alliant Vizag) do not publish isolated city headcounts. Kept as 'Data unavailable' rather than guessing.</a:t>
            </a:r>
          </a:p>
          <a:p>
            <a:pPr>
              <a:defRPr b="1" sz="950">
                <a:solidFill>
                  <a:srgbClr val="111827"/>
                </a:solidFill>
              </a:defRPr>
            </a:pPr>
            <a:r>
              <a:t>3. Static Data Snapshot Architecture: </a:t>
            </a:r>
            <a:r>
              <a:rPr b="0">
                <a:solidFill>
                  <a:srgbClr val="4B5563"/>
                </a:solidFill>
              </a:rPr>
              <a:t>Runs entirely client-side on GitHub Pages at https://ftsurya.github.io/GCC-Compass/. Zero server attack vectors, but relies on snapshot data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257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257800" cy="502920"/>
          </a:xfrm>
          <a:prstGeom prst="rect">
            <a:avLst/>
          </a:prstGeom>
          <a:solidFill>
            <a:srgbClr val="00F0A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1827"/>
                </a:solidFill>
              </a:defRPr>
            </a:pPr>
            <a:r>
              <a:t>NEXT STEPS &amp; PRODUCT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11827"/>
                </a:solidFill>
              </a:defRPr>
            </a:pPr>
            <a:r>
              <a:t>1. Phase 1: Live ATS Integrations: </a:t>
            </a:r>
            <a:r>
              <a:rPr b="0">
                <a:solidFill>
                  <a:srgbClr val="4B5563"/>
                </a:solidFill>
              </a:rPr>
              <a:t>Connect directly to Greenhouse, Lever, and Workday APIs to replace industry conversion benchmarks with live company historical pass rates.</a:t>
            </a:r>
          </a:p>
          <a:p>
            <a:pPr>
              <a:defRPr b="1" sz="950">
                <a:solidFill>
                  <a:srgbClr val="111827"/>
                </a:solidFill>
              </a:defRPr>
            </a:pPr>
            <a:r>
              <a:t>2. Phase 2: Micro-Market Commercial Real Estate: </a:t>
            </a:r>
            <a:r>
              <a:rPr b="0">
                <a:solidFill>
                  <a:srgbClr val="4B5563"/>
                </a:solidFill>
              </a:rPr>
              <a:t>Integrate live CRE data feeds to provide neighborhood-level lease rates (e.g., Whitefield vs ORR in Bengaluru; Madhapur vs Gachibowli in Hyderabad).</a:t>
            </a:r>
          </a:p>
          <a:p>
            <a:pPr>
              <a:defRPr b="1" sz="950">
                <a:solidFill>
                  <a:srgbClr val="111827"/>
                </a:solidFill>
              </a:defRPr>
            </a:pPr>
            <a:r>
              <a:t>3. Phase 3: Expanded City Coverage: </a:t>
            </a:r>
            <a:r>
              <a:rPr b="0">
                <a:solidFill>
                  <a:srgbClr val="4B5563"/>
                </a:solidFill>
              </a:rPr>
              <a:t>Expand data collection to 6 additional emerging hubs: Ahmedabad, Jaipur, Kochi, Indore, Vadodara, and Chandigarh.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669280"/>
            <a:ext cx="2926080" cy="731520"/>
          </a:xfrm>
          <a:prstGeom prst="rect">
            <a:avLst/>
          </a:prstGeom>
          <a:solidFill>
            <a:srgbClr val="FFE5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11827"/>
                </a:solidFill>
              </a:defRPr>
            </a:pPr>
            <a:r>
              <a:t>EXPLORE LIVE PROTOTYPE</a:t>
            </a:r>
          </a:p>
          <a:p>
            <a:pPr algn="ctr">
              <a:defRPr sz="850">
                <a:solidFill>
                  <a:srgbClr val="4B5563"/>
                </a:solidFill>
              </a:defRPr>
            </a:pPr>
            <a:r>
              <a:t>Verified on GitHub 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71500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111827"/>
                </a:solidFill>
              </a:defRPr>
            </a:pPr>
            <a:r>
              <a:t>Public Reviewer URL: https://ftsurya.github.io/GCC-Compass/</a:t>
            </a:r>
          </a:p>
          <a:p>
            <a:pPr>
              <a:defRPr sz="850">
                <a:solidFill>
                  <a:srgbClr val="4B5563"/>
                </a:solidFill>
              </a:defRPr>
            </a:pPr>
            <a:r>
              <a:t>GitHub Repository: https://github.com/ftsurya/GCC-Compass | Branch: main (4e3db9c) | gh-pages (caef8a7)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